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01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8141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ounded Rectangle 40"/>
          <p:cNvSpPr/>
          <p:nvPr/>
        </p:nvSpPr>
        <p:spPr>
          <a:xfrm>
            <a:off x="8851392" y="384048"/>
            <a:ext cx="2807208" cy="1547110"/>
          </a:xfrm>
          <a:prstGeom prst="roundRect">
            <a:avLst>
              <a:gd name="adj" fmla="val 13138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5B8E"/>
          </a:solidFill>
          <a:ln w="12700">
            <a:solidFill>
              <a:srgbClr val="195B8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5B8E"/>
                </a:solidFill>
              </a:rPr>
              <a:t>CHECKUPP INVESTMENT ASK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B172A"/>
                </a:solidFill>
              </a:rPr>
              <a:t>Use $100K to build a production-release-ready pilot version of CheckUpp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78638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B6778"/>
                </a:solidFill>
              </a:rPr>
              <a:t>For Dr Farhan Shahzad / Evaluate Health: fund the product release, trust layer, integrations and launch readiness — with Anodiam continuing as the discounted technology delivery partner.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51392" y="50292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2D050"/>
                </a:solidFill>
              </a:rPr>
              <a:t>$100K</a:t>
            </a:r>
            <a:endParaRPr lang="en-US" sz="3000" dirty="0">
              <a:solidFill>
                <a:srgbClr val="92D05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8851392" y="105156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>
                    <a:lumMod val="95000"/>
                  </a:schemeClr>
                </a:solidFill>
              </a:rPr>
              <a:t>investment support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851392" y="14173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B0F0"/>
                </a:solidFill>
              </a:rPr>
              <a:t>10–15% </a:t>
            </a:r>
            <a:r>
              <a:rPr lang="en-US" sz="1200" b="1" dirty="0">
                <a:solidFill>
                  <a:srgbClr val="00B0F0"/>
                </a:solidFill>
              </a:rPr>
              <a:t>discussion</a:t>
            </a:r>
            <a:r>
              <a:rPr lang="en-US" sz="1350" b="1" dirty="0">
                <a:solidFill>
                  <a:srgbClr val="00B0F0"/>
                </a:solidFill>
              </a:rPr>
              <a:t> range</a:t>
            </a:r>
            <a:endParaRPr lang="en-US" sz="1350" dirty="0">
              <a:solidFill>
                <a:srgbClr val="00B0F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2434080"/>
            <a:ext cx="11109960" cy="0"/>
          </a:xfrm>
          <a:prstGeom prst="line">
            <a:avLst/>
          </a:prstGeom>
          <a:noFill/>
          <a:ln w="12700">
            <a:solidFill>
              <a:srgbClr val="CED8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8578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72A"/>
                </a:solidFill>
              </a:rPr>
              <a:t>What the investment must achieve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32521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7A4B"/>
                </a:solidFill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32688" y="3233840"/>
            <a:ext cx="47993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b="1" dirty="0">
                <a:solidFill>
                  <a:srgbClr val="0B172A"/>
                </a:solidFill>
              </a:rPr>
              <a:t>Retain the current </a:t>
            </a:r>
            <a:r>
              <a:rPr lang="en-US" sz="1450" b="1" dirty="0" smtClean="0">
                <a:solidFill>
                  <a:srgbClr val="0B172A"/>
                </a:solidFill>
              </a:rPr>
              <a:t>Anodiam tech </a:t>
            </a:r>
            <a:r>
              <a:rPr lang="en-US" sz="1450" b="1" dirty="0">
                <a:solidFill>
                  <a:srgbClr val="0B172A"/>
                </a:solidFill>
              </a:rPr>
              <a:t>team for CheckUpp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32688" y="3499016"/>
            <a:ext cx="5138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40" dirty="0" smtClean="0">
                <a:solidFill>
                  <a:srgbClr val="5B6778"/>
                </a:solidFill>
              </a:rPr>
              <a:t>Existing dev team </a:t>
            </a:r>
            <a:r>
              <a:rPr lang="en-US" sz="1140" dirty="0">
                <a:solidFill>
                  <a:srgbClr val="5B6778"/>
                </a:solidFill>
              </a:rPr>
              <a:t>remain on delivery — no re-ramp, less execution risk.</a:t>
            </a:r>
            <a:endParaRPr lang="en-US" sz="1140" dirty="0"/>
          </a:p>
        </p:txBody>
      </p:sp>
      <p:sp>
        <p:nvSpPr>
          <p:cNvPr id="15" name="Text 13"/>
          <p:cNvSpPr/>
          <p:nvPr/>
        </p:nvSpPr>
        <p:spPr>
          <a:xfrm>
            <a:off x="658368" y="39653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7A4B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947072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72A"/>
                </a:solidFill>
              </a:rPr>
              <a:t>Move from sprint output to release quality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4212248"/>
            <a:ext cx="5138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5B6778"/>
                </a:solidFill>
              </a:rPr>
              <a:t>Stabilised build, QA/UAT, release hygiene, deployment discipline and pilot environment.</a:t>
            </a:r>
            <a:endParaRPr lang="en-US" sz="1140" dirty="0"/>
          </a:p>
        </p:txBody>
      </p:sp>
      <p:sp>
        <p:nvSpPr>
          <p:cNvPr id="18" name="Text 16"/>
          <p:cNvSpPr/>
          <p:nvPr/>
        </p:nvSpPr>
        <p:spPr>
          <a:xfrm>
            <a:off x="658368" y="46785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7A4B"/>
                </a:solidFill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2688" y="4660304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72A"/>
                </a:solidFill>
              </a:rPr>
              <a:t>Build the healthcare trust layer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32688" y="4925480"/>
            <a:ext cx="5138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5B6778"/>
                </a:solidFill>
              </a:rPr>
              <a:t>Medico-legal, privacy, cyber security, consent, access control and audit readiness.</a:t>
            </a:r>
            <a:endParaRPr lang="en-US" sz="1140" dirty="0"/>
          </a:p>
        </p:txBody>
      </p:sp>
      <p:sp>
        <p:nvSpPr>
          <p:cNvPr id="21" name="Text 19"/>
          <p:cNvSpPr/>
          <p:nvPr/>
        </p:nvSpPr>
        <p:spPr>
          <a:xfrm>
            <a:off x="658368" y="539182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7A4B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2688" y="5373536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72A"/>
                </a:solidFill>
              </a:rPr>
              <a:t>Prepare for real pilots and growth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32688" y="5638712"/>
            <a:ext cx="5138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5B6778"/>
                </a:solidFill>
              </a:rPr>
              <a:t>GTM materials, onboarding, support processes, analytics and investor reporting.</a:t>
            </a:r>
            <a:endParaRPr lang="en-US" sz="1140" dirty="0"/>
          </a:p>
        </p:txBody>
      </p:sp>
      <p:sp>
        <p:nvSpPr>
          <p:cNvPr id="24" name="Text 22"/>
          <p:cNvSpPr/>
          <p:nvPr/>
        </p:nvSpPr>
        <p:spPr>
          <a:xfrm>
            <a:off x="6629400" y="278578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72A"/>
                </a:solidFill>
              </a:rPr>
              <a:t>Target pilot state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29400" y="3197264"/>
            <a:ext cx="4480560" cy="292608"/>
          </a:xfrm>
          <a:prstGeom prst="rect">
            <a:avLst/>
          </a:prstGeom>
          <a:solidFill>
            <a:srgbClr val="EAF7F1"/>
          </a:solidFill>
          <a:ln>
            <a:solidFill>
              <a:srgbClr val="0A7A4B">
                <a:alpha val="55000"/>
              </a:srgbClr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7A4B"/>
                </a:solidFill>
              </a:rPr>
              <a:t>PRODUCTION-RELEASE-READY PILOT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11696" y="3718472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95B8E"/>
                </a:solidFill>
              </a:rPr>
              <a:t>•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31152" y="3700184"/>
            <a:ext cx="4462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0B172A"/>
                </a:solidFill>
              </a:rPr>
              <a:t>Release scope locked and backlog prioritised</a:t>
            </a:r>
            <a:endParaRPr lang="en-US" sz="1130" dirty="0"/>
          </a:p>
        </p:txBody>
      </p:sp>
      <p:sp>
        <p:nvSpPr>
          <p:cNvPr id="28" name="Text 26"/>
          <p:cNvSpPr/>
          <p:nvPr/>
        </p:nvSpPr>
        <p:spPr>
          <a:xfrm>
            <a:off x="6711696" y="4111664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95B8E"/>
                </a:solidFill>
              </a:rPr>
              <a:t>•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931152" y="4093376"/>
            <a:ext cx="4462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0B172A"/>
                </a:solidFill>
              </a:rPr>
              <a:t>Core workflows tested and ready for controlled users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6711696" y="4504856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95B8E"/>
                </a:solidFill>
              </a:rPr>
              <a:t>•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931152" y="4486568"/>
            <a:ext cx="4462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0B172A"/>
                </a:solidFill>
              </a:rPr>
              <a:t>Cloud environment, backups and monitoring in place</a:t>
            </a:r>
            <a:endParaRPr lang="en-US" sz="1130" dirty="0"/>
          </a:p>
        </p:txBody>
      </p:sp>
      <p:sp>
        <p:nvSpPr>
          <p:cNvPr id="32" name="Text 30"/>
          <p:cNvSpPr/>
          <p:nvPr/>
        </p:nvSpPr>
        <p:spPr>
          <a:xfrm>
            <a:off x="6711696" y="489804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95B8E"/>
                </a:solidFill>
              </a:rPr>
              <a:t>•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4879760"/>
            <a:ext cx="4462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0B172A"/>
                </a:solidFill>
              </a:rPr>
              <a:t>Privacy, cyber </a:t>
            </a:r>
            <a:r>
              <a:rPr lang="en-US" sz="1130" dirty="0" smtClean="0">
                <a:solidFill>
                  <a:srgbClr val="0B172A"/>
                </a:solidFill>
              </a:rPr>
              <a:t>security and </a:t>
            </a:r>
            <a:r>
              <a:rPr lang="en-US" sz="1130" dirty="0">
                <a:solidFill>
                  <a:srgbClr val="0B172A"/>
                </a:solidFill>
              </a:rPr>
              <a:t>medico-legal risks addressed</a:t>
            </a:r>
            <a:endParaRPr lang="en-US" sz="1130" dirty="0"/>
          </a:p>
        </p:txBody>
      </p:sp>
      <p:sp>
        <p:nvSpPr>
          <p:cNvPr id="34" name="Text 32"/>
          <p:cNvSpPr/>
          <p:nvPr/>
        </p:nvSpPr>
        <p:spPr>
          <a:xfrm>
            <a:off x="6711696" y="5291240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95B8E"/>
                </a:solidFill>
              </a:rPr>
              <a:t>•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931152" y="5272952"/>
            <a:ext cx="4462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0B172A"/>
                </a:solidFill>
              </a:rPr>
              <a:t>Integration discovery with Evaluate Health started</a:t>
            </a:r>
            <a:endParaRPr lang="en-US" sz="1130" dirty="0"/>
          </a:p>
        </p:txBody>
      </p:sp>
      <p:sp>
        <p:nvSpPr>
          <p:cNvPr id="36" name="Text 34"/>
          <p:cNvSpPr/>
          <p:nvPr/>
        </p:nvSpPr>
        <p:spPr>
          <a:xfrm>
            <a:off x="6711696" y="5684432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95B8E"/>
                </a:solidFill>
              </a:rPr>
              <a:t>•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931152" y="5666144"/>
            <a:ext cx="4462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0B172A"/>
                </a:solidFill>
              </a:rPr>
              <a:t>Pilot onboarding, support and reporting prepared</a:t>
            </a:r>
            <a:endParaRPr lang="en-US" sz="113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4A6"/>
                </a:solidFill>
              </a:rPr>
              <a:t>CheckUpp investment support requirement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521440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94A6"/>
                </a:solidFill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5B8E"/>
          </a:solidFill>
          <a:ln w="12700">
            <a:solidFill>
              <a:srgbClr val="195B8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5B8E"/>
                </a:solidFill>
              </a:rPr>
              <a:t>INDICATIVE $100K BREAKUP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 smtClean="0">
                <a:solidFill>
                  <a:srgbClr val="0B172A"/>
                </a:solidFill>
              </a:rPr>
              <a:t>Funding for </a:t>
            </a:r>
            <a:r>
              <a:rPr lang="en-US" b="1" dirty="0">
                <a:solidFill>
                  <a:srgbClr val="0B172A"/>
                </a:solidFill>
              </a:rPr>
              <a:t>the build, release hardening and controlled pilot launch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66928" y="1620397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5B8E"/>
                </a:solidFill>
              </a:rPr>
              <a:t>Area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80360" y="1620397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5B8E"/>
                </a:solidFill>
              </a:rPr>
              <a:t>Amount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0" y="1620397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5B8E"/>
                </a:solidFill>
              </a:rPr>
              <a:t>Purpose / release output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195560" y="1620397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5B8E"/>
                </a:solidFill>
              </a:rPr>
              <a:t>Owner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099573"/>
            <a:ext cx="11109960" cy="0"/>
          </a:xfrm>
          <a:prstGeom prst="line">
            <a:avLst/>
          </a:prstGeom>
          <a:noFill/>
          <a:ln w="12700">
            <a:solidFill>
              <a:srgbClr val="CED8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82453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0A7A4B"/>
                </a:solidFill>
              </a:rPr>
              <a:t>Technology development + QA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2880360" y="2282453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0B172A"/>
                </a:solidFill>
              </a:rPr>
              <a:t>$35K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2282453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5B6778"/>
                </a:solidFill>
              </a:rPr>
              <a:t>Discounted Anodiam build: </a:t>
            </a:r>
            <a:r>
              <a:rPr lang="en-US" sz="990" dirty="0" smtClean="0">
                <a:solidFill>
                  <a:srgbClr val="5B6778"/>
                </a:solidFill>
              </a:rPr>
              <a:t>Software product development, UX, </a:t>
            </a:r>
            <a:r>
              <a:rPr lang="en-US" sz="990" dirty="0">
                <a:solidFill>
                  <a:srgbClr val="5B6778"/>
                </a:solidFill>
              </a:rPr>
              <a:t>APIs, data flows, </a:t>
            </a:r>
            <a:r>
              <a:rPr lang="en-US" sz="990" dirty="0" smtClean="0">
                <a:solidFill>
                  <a:srgbClr val="5B6778"/>
                </a:solidFill>
              </a:rPr>
              <a:t>testing.</a:t>
            </a:r>
          </a:p>
          <a:p>
            <a:pPr marL="0" indent="0">
              <a:buNone/>
            </a:pPr>
            <a:r>
              <a:rPr lang="en-US" sz="990" dirty="0" smtClean="0">
                <a:solidFill>
                  <a:srgbClr val="5B6778"/>
                </a:solidFill>
              </a:rPr>
              <a:t>Output</a:t>
            </a:r>
            <a:r>
              <a:rPr lang="en-US" sz="990" dirty="0">
                <a:solidFill>
                  <a:srgbClr val="5B6778"/>
                </a:solidFill>
              </a:rPr>
              <a:t>: production-release-ready pilot app.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10195560" y="2282453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40" dirty="0">
                <a:solidFill>
                  <a:srgbClr val="5B6778"/>
                </a:solidFill>
              </a:rPr>
              <a:t>Anodiam</a:t>
            </a:r>
          </a:p>
        </p:txBody>
      </p:sp>
      <p:sp>
        <p:nvSpPr>
          <p:cNvPr id="15" name="Shape 13"/>
          <p:cNvSpPr/>
          <p:nvPr/>
        </p:nvSpPr>
        <p:spPr>
          <a:xfrm>
            <a:off x="548640" y="2684789"/>
            <a:ext cx="11109960" cy="0"/>
          </a:xfrm>
          <a:prstGeom prst="line">
            <a:avLst/>
          </a:prstGeom>
          <a:noFill/>
          <a:ln w="7620">
            <a:solidFill>
              <a:srgbClr val="E8EE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794517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0A7A4B"/>
                </a:solidFill>
              </a:rPr>
              <a:t>Privacy + cyber security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2880360" y="2794517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72A"/>
                </a:solidFill>
              </a:rPr>
              <a:t>$</a:t>
            </a:r>
            <a:r>
              <a:rPr lang="en-US" sz="1200" b="1" dirty="0" smtClean="0">
                <a:solidFill>
                  <a:srgbClr val="0B172A"/>
                </a:solidFill>
              </a:rPr>
              <a:t>10K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40480" y="2794517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5B6778"/>
                </a:solidFill>
              </a:rPr>
              <a:t>Data protection, access control, audit trail, threat model, penetration-test </a:t>
            </a:r>
            <a:r>
              <a:rPr lang="en-US" sz="990" dirty="0" smtClean="0">
                <a:solidFill>
                  <a:srgbClr val="5B6778"/>
                </a:solidFill>
              </a:rPr>
              <a:t>and vulnerability remediation</a:t>
            </a:r>
            <a:r>
              <a:rPr lang="en-US" sz="990" dirty="0">
                <a:solidFill>
                  <a:srgbClr val="5B6778"/>
                </a:solidFill>
              </a:rPr>
              <a:t>.</a:t>
            </a:r>
            <a:endParaRPr lang="en-US" sz="990" dirty="0"/>
          </a:p>
        </p:txBody>
      </p:sp>
      <p:sp>
        <p:nvSpPr>
          <p:cNvPr id="19" name="Text 17"/>
          <p:cNvSpPr/>
          <p:nvPr/>
        </p:nvSpPr>
        <p:spPr>
          <a:xfrm>
            <a:off x="10195560" y="2794517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 smtClean="0">
                <a:solidFill>
                  <a:srgbClr val="5B6778"/>
                </a:solidFill>
              </a:rPr>
              <a:t>Founders + Anodiam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48640" y="3196853"/>
            <a:ext cx="11109960" cy="0"/>
          </a:xfrm>
          <a:prstGeom prst="line">
            <a:avLst/>
          </a:prstGeom>
          <a:noFill/>
          <a:ln w="7620">
            <a:solidFill>
              <a:srgbClr val="E8EE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306581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0A7A4B"/>
                </a:solidFill>
              </a:rPr>
              <a:t>Cloud, hosting + integrations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2880360" y="3306581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72A"/>
                </a:solidFill>
              </a:rPr>
              <a:t>$</a:t>
            </a:r>
            <a:r>
              <a:rPr lang="en-US" sz="1200" b="1" dirty="0" smtClean="0">
                <a:solidFill>
                  <a:srgbClr val="0B172A"/>
                </a:solidFill>
              </a:rPr>
              <a:t>12K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40480" y="3306581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 smtClean="0">
                <a:solidFill>
                  <a:srgbClr val="5B6778"/>
                </a:solidFill>
              </a:rPr>
              <a:t>Production cloud infra, </a:t>
            </a:r>
            <a:r>
              <a:rPr lang="en-US" sz="990" dirty="0">
                <a:solidFill>
                  <a:srgbClr val="5B6778"/>
                </a:solidFill>
              </a:rPr>
              <a:t>monitoring, backups, email</a:t>
            </a:r>
            <a:r>
              <a:rPr lang="en-US" sz="990" dirty="0" smtClean="0">
                <a:solidFill>
                  <a:srgbClr val="5B6778"/>
                </a:solidFill>
              </a:rPr>
              <a:t>/ messaging, </a:t>
            </a:r>
            <a:r>
              <a:rPr lang="en-US" sz="990" dirty="0">
                <a:solidFill>
                  <a:srgbClr val="5B6778"/>
                </a:solidFill>
              </a:rPr>
              <a:t>analytics and </a:t>
            </a:r>
            <a:r>
              <a:rPr lang="en-US" sz="990" dirty="0" smtClean="0">
                <a:solidFill>
                  <a:srgbClr val="5B6778"/>
                </a:solidFill>
              </a:rPr>
              <a:t>release management.</a:t>
            </a:r>
            <a:endParaRPr lang="en-US" sz="990" dirty="0"/>
          </a:p>
        </p:txBody>
      </p:sp>
      <p:sp>
        <p:nvSpPr>
          <p:cNvPr id="24" name="Text 22"/>
          <p:cNvSpPr/>
          <p:nvPr/>
        </p:nvSpPr>
        <p:spPr>
          <a:xfrm>
            <a:off x="10195560" y="3306581"/>
            <a:ext cx="1325880" cy="29260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40" dirty="0">
                <a:solidFill>
                  <a:srgbClr val="5B6778"/>
                </a:solidFill>
              </a:rPr>
              <a:t>Founders + Anodiam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548640" y="3708917"/>
            <a:ext cx="11109960" cy="0"/>
          </a:xfrm>
          <a:prstGeom prst="line">
            <a:avLst/>
          </a:prstGeom>
          <a:noFill/>
          <a:ln w="7620">
            <a:solidFill>
              <a:srgbClr val="E8EEF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818645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152238"/>
                </a:solidFill>
              </a:rPr>
              <a:t>Medico-legal + regulatory</a:t>
            </a:r>
            <a:endParaRPr lang="en-US" sz="1030" dirty="0"/>
          </a:p>
        </p:txBody>
      </p:sp>
      <p:sp>
        <p:nvSpPr>
          <p:cNvPr id="27" name="Text 25"/>
          <p:cNvSpPr/>
          <p:nvPr/>
        </p:nvSpPr>
        <p:spPr>
          <a:xfrm>
            <a:off x="2880360" y="3818645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72A"/>
                </a:solidFill>
              </a:rPr>
              <a:t>$10K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40479" y="3818645"/>
            <a:ext cx="6272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5B6778"/>
                </a:solidFill>
              </a:rPr>
              <a:t>Clinical governance, consent, disclaimers, healthcare compliance, risk review </a:t>
            </a:r>
            <a:r>
              <a:rPr lang="en-US" sz="990" dirty="0" smtClean="0">
                <a:solidFill>
                  <a:srgbClr val="5B6778"/>
                </a:solidFill>
              </a:rPr>
              <a:t>&amp; approved </a:t>
            </a:r>
            <a:r>
              <a:rPr lang="en-US" sz="990" dirty="0">
                <a:solidFill>
                  <a:srgbClr val="5B6778"/>
                </a:solidFill>
              </a:rPr>
              <a:t>operating boundaries.</a:t>
            </a:r>
            <a:endParaRPr lang="en-US" sz="990" dirty="0"/>
          </a:p>
        </p:txBody>
      </p:sp>
      <p:sp>
        <p:nvSpPr>
          <p:cNvPr id="29" name="Text 27"/>
          <p:cNvSpPr/>
          <p:nvPr/>
        </p:nvSpPr>
        <p:spPr>
          <a:xfrm>
            <a:off x="10195560" y="3818645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40" dirty="0">
                <a:solidFill>
                  <a:srgbClr val="5B6778"/>
                </a:solidFill>
              </a:rPr>
              <a:t>Founders</a:t>
            </a:r>
          </a:p>
        </p:txBody>
      </p:sp>
      <p:sp>
        <p:nvSpPr>
          <p:cNvPr id="30" name="Shape 28"/>
          <p:cNvSpPr/>
          <p:nvPr/>
        </p:nvSpPr>
        <p:spPr>
          <a:xfrm>
            <a:off x="548640" y="4220981"/>
            <a:ext cx="11109960" cy="0"/>
          </a:xfrm>
          <a:prstGeom prst="line">
            <a:avLst/>
          </a:prstGeom>
          <a:noFill/>
          <a:ln w="7620">
            <a:solidFill>
              <a:srgbClr val="E8EEF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330709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152238"/>
                </a:solidFill>
              </a:rPr>
              <a:t>Marketing + customer acquisition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2880360" y="4330709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0B172A"/>
                </a:solidFill>
              </a:rPr>
              <a:t>$20K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840480" y="4330709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5B6778"/>
                </a:solidFill>
              </a:rPr>
              <a:t>GTM materials, sales deck, one-pager, website/demo assets, pilot outreach, partner messaging </a:t>
            </a:r>
            <a:r>
              <a:rPr lang="en-US" sz="990" dirty="0" smtClean="0">
                <a:solidFill>
                  <a:srgbClr val="5B6778"/>
                </a:solidFill>
              </a:rPr>
              <a:t>&amp; CRM </a:t>
            </a:r>
            <a:r>
              <a:rPr lang="en-US" sz="990" dirty="0">
                <a:solidFill>
                  <a:srgbClr val="5B6778"/>
                </a:solidFill>
              </a:rPr>
              <a:t>list.</a:t>
            </a:r>
            <a:endParaRPr lang="en-US" sz="990" dirty="0"/>
          </a:p>
        </p:txBody>
      </p:sp>
      <p:sp>
        <p:nvSpPr>
          <p:cNvPr id="34" name="Text 32"/>
          <p:cNvSpPr/>
          <p:nvPr/>
        </p:nvSpPr>
        <p:spPr>
          <a:xfrm>
            <a:off x="10195560" y="4330709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40" dirty="0">
                <a:solidFill>
                  <a:srgbClr val="5B6778"/>
                </a:solidFill>
              </a:rPr>
              <a:t>Founders</a:t>
            </a:r>
          </a:p>
        </p:txBody>
      </p:sp>
      <p:sp>
        <p:nvSpPr>
          <p:cNvPr id="35" name="Shape 33"/>
          <p:cNvSpPr/>
          <p:nvPr/>
        </p:nvSpPr>
        <p:spPr>
          <a:xfrm>
            <a:off x="548640" y="4733045"/>
            <a:ext cx="11109960" cy="0"/>
          </a:xfrm>
          <a:prstGeom prst="line">
            <a:avLst/>
          </a:prstGeom>
          <a:noFill/>
          <a:ln w="7620">
            <a:solidFill>
              <a:srgbClr val="E8EE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4842773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152238"/>
                </a:solidFill>
              </a:rPr>
              <a:t>Operations + customer success</a:t>
            </a:r>
            <a:endParaRPr lang="en-US" sz="1030" dirty="0"/>
          </a:p>
        </p:txBody>
      </p:sp>
      <p:sp>
        <p:nvSpPr>
          <p:cNvPr id="37" name="Text 35"/>
          <p:cNvSpPr/>
          <p:nvPr/>
        </p:nvSpPr>
        <p:spPr>
          <a:xfrm>
            <a:off x="2880360" y="4842773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0B172A"/>
                </a:solidFill>
              </a:rPr>
              <a:t>$10K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840480" y="4842773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5B6778"/>
                </a:solidFill>
              </a:rPr>
              <a:t>Pilot onboarding, support process, training materials, admin workflows, feedback capture and issue triage.</a:t>
            </a:r>
            <a:endParaRPr lang="en-US" sz="990" dirty="0"/>
          </a:p>
        </p:txBody>
      </p:sp>
      <p:sp>
        <p:nvSpPr>
          <p:cNvPr id="39" name="Text 37"/>
          <p:cNvSpPr/>
          <p:nvPr/>
        </p:nvSpPr>
        <p:spPr>
          <a:xfrm>
            <a:off x="10195560" y="4842773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40" dirty="0">
                <a:solidFill>
                  <a:srgbClr val="5B6778"/>
                </a:solidFill>
              </a:rPr>
              <a:t>Founders</a:t>
            </a:r>
          </a:p>
        </p:txBody>
      </p:sp>
      <p:sp>
        <p:nvSpPr>
          <p:cNvPr id="40" name="Shape 38"/>
          <p:cNvSpPr/>
          <p:nvPr/>
        </p:nvSpPr>
        <p:spPr>
          <a:xfrm>
            <a:off x="548640" y="5245109"/>
            <a:ext cx="11109960" cy="0"/>
          </a:xfrm>
          <a:prstGeom prst="line">
            <a:avLst/>
          </a:prstGeom>
          <a:noFill/>
          <a:ln w="7620">
            <a:solidFill>
              <a:srgbClr val="E8EE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5354837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152238"/>
                </a:solidFill>
              </a:rPr>
              <a:t>Governance + contingency</a:t>
            </a:r>
            <a:endParaRPr lang="en-US" sz="1030" dirty="0"/>
          </a:p>
        </p:txBody>
      </p:sp>
      <p:sp>
        <p:nvSpPr>
          <p:cNvPr id="42" name="Text 40"/>
          <p:cNvSpPr/>
          <p:nvPr/>
        </p:nvSpPr>
        <p:spPr>
          <a:xfrm>
            <a:off x="2880360" y="5354837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0B172A"/>
                </a:solidFill>
              </a:rPr>
              <a:t>$3K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840480" y="5354837"/>
            <a:ext cx="5989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5B6778"/>
                </a:solidFill>
              </a:rPr>
              <a:t>Investor reporting, budget control, decision log, sprint governance and small remediation reserve.</a:t>
            </a:r>
            <a:endParaRPr lang="en-US" sz="990" dirty="0"/>
          </a:p>
        </p:txBody>
      </p:sp>
      <p:sp>
        <p:nvSpPr>
          <p:cNvPr id="44" name="Text 42"/>
          <p:cNvSpPr/>
          <p:nvPr/>
        </p:nvSpPr>
        <p:spPr>
          <a:xfrm>
            <a:off x="10195560" y="5354837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5B6778"/>
                </a:solidFill>
              </a:rPr>
              <a:t>Founders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548640" y="5898020"/>
            <a:ext cx="11109960" cy="0"/>
          </a:xfrm>
          <a:prstGeom prst="line">
            <a:avLst/>
          </a:prstGeom>
          <a:noFill/>
          <a:ln w="12700">
            <a:solidFill>
              <a:srgbClr val="CED8E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647395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A94A6"/>
                </a:solidFill>
              </a:rPr>
              <a:t>CheckUpp investment support requirement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521440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94A6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412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Office Theme</vt:lpstr>
      <vt:lpstr>PowerPoint Presentation</vt:lpstr>
      <vt:lpstr>PowerPoint Presentation</vt:lpstr>
    </vt:vector>
  </TitlesOfParts>
  <Company>Anodiam / CheckUpp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CheckUpp Investment Support - Production Release Ready Pilot</dc:title>
  <dc:subject>CheckUpp investment support requirement</dc:subject>
  <dc:creator>OpenAI</dc:creator>
  <cp:lastModifiedBy>User</cp:lastModifiedBy>
  <cp:revision>6</cp:revision>
  <dcterms:created xsi:type="dcterms:W3CDTF">2026-08-18T02:27:20Z</dcterms:created>
  <dcterms:modified xsi:type="dcterms:W3CDTF">2026-09-03T11:08:34Z</dcterms:modified>
</cp:coreProperties>
</file>